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  <a:latin typeface="Calibri"/>
              </a:defRPr>
            </a:pPr>
            <a:r>
              <a:t>MANAGEMENT DISCUSSION &amp; ANALYSIS • Q3 FISCAL 2025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  <a:latin typeface="Calibri"/>
              </a:defRPr>
            </a:pPr>
            <a:r>
              <a:t>AcroTech Dynamics Inc. — Q3 Fiscal 2025 Quarterly Financial &amp; Operations Report</a:t>
            </a:r>
          </a:p>
          <a:p>
            <a:pPr>
              <a:spcBef>
                <a:spcPts val="1000"/>
              </a:spcBef>
              <a:defRPr sz="1600">
                <a:solidFill>
                  <a:srgbClr val="94A3B8"/>
                </a:solidFill>
                <a:latin typeface="Calibri"/>
              </a:defRPr>
            </a:pPr>
            <a:r>
              <a:t>AcroTech Dynamics Inc. (Enterprise B2B SaaS &amp; AI Automation — Quarterly Financial Disclosures, Debt Covenant Verification &amp; Risk Audit</a:t>
            </a:r>
          </a:p>
          <a:p>
            <a:pPr>
              <a:spcBef>
                <a:spcPts val="2800"/>
              </a:spcBef>
              <a:defRPr sz="1100">
                <a:solidFill>
                  <a:srgbClr val="00F0FF"/>
                </a:solidFill>
                <a:latin typeface="Consolas"/>
              </a:defRPr>
            </a:pPr>
            <a:r>
              <a:t>Audit Date: Three Months Ended September 30, 2025  |  Classification: Official Management Discussion &amp; Analysis (MD&amp;A) and Financial Disclosures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SECTION 1: PERFORMANCE SCORECARD • ACROTECH DYNAMICS INC. (ENTERPRISE B2B SAAS &amp; AI AUTOMATION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Executive Financial Highlights &amp; Operating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F0FF"/>
                </a:solidFill>
                <a:latin typeface="Consolas"/>
              </a:defRPr>
            </a:pPr>
            <a: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alibri"/>
              </a:defRPr>
            </a:pPr>
            <a:r>
              <a:t>ARR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$184.5M</a:t>
            </a:r>
          </a:p>
          <a:p>
            <a:pPr>
              <a:spcBef>
                <a:spcPts val="600"/>
              </a:spcBef>
              <a:defRPr sz="950">
                <a:solidFill>
                  <a:srgbClr val="F59E0B"/>
                </a:solidFill>
                <a:latin typeface="Calibri"/>
              </a:defRPr>
            </a:pPr>
            <a:r>
              <a:t>+12.4% YoY  •  Decelerated from +22.0% YoY in Q2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alibri"/>
              </a:defRPr>
            </a:pPr>
            <a:r>
              <a:t>GAAP REVENUE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$48.20M</a:t>
            </a:r>
          </a:p>
          <a:p>
            <a:pPr>
              <a:spcBef>
                <a:spcPts val="600"/>
              </a:spcBef>
              <a:defRPr sz="950">
                <a:solidFill>
                  <a:srgbClr val="00F0FF"/>
                </a:solidFill>
                <a:latin typeface="Calibri"/>
              </a:defRPr>
            </a:pPr>
            <a:r>
              <a:t>Subscription $44.1M  •  Professional services $4.10M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alibri"/>
              </a:defRPr>
            </a:pPr>
            <a:r>
              <a:t>GROSS MARGIN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68.4%</a:t>
            </a:r>
          </a:p>
          <a:p>
            <a:pPr>
              <a:spcBef>
                <a:spcPts val="600"/>
              </a:spcBef>
              <a:defRPr sz="950">
                <a:solidFill>
                  <a:srgbClr val="EF4444"/>
                </a:solidFill>
                <a:latin typeface="Calibri"/>
              </a:defRPr>
            </a:pPr>
            <a:r>
              <a:t>-580 bps YoY  •  Compressed from 74.2% via 38% GPU cost surge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383280" cy="210312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alibri"/>
              </a:defRPr>
            </a:pPr>
            <a:r>
              <a:t>OPERATING LOSS (EBIT)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-$4.75M</a:t>
            </a:r>
          </a:p>
          <a:p>
            <a:pPr>
              <a:spcBef>
                <a:spcPts val="600"/>
              </a:spcBef>
              <a:defRPr sz="950">
                <a:solidFill>
                  <a:srgbClr val="EF4444"/>
                </a:solidFill>
                <a:latin typeface="Calibri"/>
              </a:defRPr>
            </a:pPr>
            <a:r>
              <a:t>Widened YoY  •  Widened from -$0.95M in Q3 FY24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114800"/>
            <a:ext cx="3383280" cy="210312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2519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alibri"/>
              </a:defRPr>
            </a:pPr>
            <a:r>
              <a:t>NET LOSS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-$5.70M</a:t>
            </a:r>
          </a:p>
          <a:p>
            <a:pPr>
              <a:spcBef>
                <a:spcPts val="600"/>
              </a:spcBef>
              <a:defRPr sz="950">
                <a:solidFill>
                  <a:srgbClr val="EF4444"/>
                </a:solidFill>
                <a:latin typeface="Calibri"/>
              </a:defRPr>
            </a:pPr>
            <a:r>
              <a:t>Incl. $0.95M interest  •  Debt service interest drag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14800"/>
            <a:ext cx="3383280" cy="210312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519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alibri"/>
              </a:defRPr>
            </a:pPr>
            <a:r>
              <a:t>CASH &amp; RUNWAY</a:t>
            </a:r>
          </a:p>
          <a:p>
            <a:pPr>
              <a:spcBef>
                <a:spcPts val="40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$18.60M</a:t>
            </a:r>
          </a:p>
          <a:p>
            <a:pPr>
              <a:spcBef>
                <a:spcPts val="600"/>
              </a:spcBef>
              <a:defRPr sz="950">
                <a:solidFill>
                  <a:srgbClr val="EF4444"/>
                </a:solidFill>
                <a:latin typeface="Calibri"/>
              </a:defRPr>
            </a:pPr>
            <a:r>
              <a:t>3.87 Quarters  •  Quarterly cash burn at -$4.80M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SECTION 2: CREDIT FACILITY COMPLIANCE • ACROTECH DYNAMICS INC. (ENTERPRISE B2B SAAS &amp; AI AUTOMATION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Debt &amp; Capital Structure: Covenant Headroom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F0FF"/>
                </a:solidFill>
                <a:latin typeface="Consolas"/>
              </a:defRPr>
            </a:pPr>
            <a: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4203A"/>
          </a:solidFill>
          <a:ln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CREDIT FACILITY SUMMARY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• Senior Debt Outstanding: $35.00M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  Maturity: November 2026 (14 months remaining)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• Maximum Debt-to-ARR Covenant: 0.2200x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  Mandatory lender default threshold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• Current Debt-to-ARR Ratio: 0.1897x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  $35.0M debt / $184.5M ARR</a:t>
            </a:r>
          </a:p>
          <a:p>
            <a:pPr>
              <a:spcBef>
                <a:spcPts val="12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• Covenant Headroom Buffer: 0.0303x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  Only $5.6M ARR buffer before loan acceleration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141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Calibri"/>
              </a:defRPr>
            </a:pPr>
            <a:r>
              <a:t>⚠ COVENANT COMPLIANCE WARNING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Current Ratio: 0.1897x  vs  Cap: 0.2200x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Remaining Headroom Buffer: 0.0303x ($5.6M ARR)</a:t>
            </a:r>
            <a:br/>
            <a:br/>
            <a:r>
              <a:t>Any combined contraction of ARR exceeding $5.6M will breach the Senior Secured Facility covenants, triggering mandatory default and lender acceleration of the entire $35.0M principal balance.</a:t>
            </a:r>
            <a:br/>
            <a:br/>
            <a:r>
              <a:t>With cash burn currently running at -$4.8M/quarter and only $18.6M in reserves, management must initiate proactive lender covenant relief discussions immediately.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SECTION 3: REVENUE CONCENTRATION RISK • ACROTECH DYNAMICS INC. (ENTERPRISE B2B SAAS &amp; AI AUTOMATION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Customer Concentration &amp; Churn Vulnerability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F0FF"/>
                </a:solidFill>
                <a:latin typeface="Consolas"/>
              </a:defRPr>
            </a:pPr>
            <a: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480560"/>
          </a:xfrm>
          <a:prstGeom prst="roundRect">
            <a:avLst/>
          </a:prstGeom>
          <a:solidFill>
            <a:srgbClr val="14203A"/>
          </a:solidFill>
          <a:ln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TOP 3 CONCENTRATION</a:t>
            </a:r>
          </a:p>
          <a:p>
            <a:pPr>
              <a:spcBef>
                <a:spcPts val="1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38.5% of ARR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$71.03M across 3 strategic accounts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480560"/>
          </a:xfrm>
          <a:prstGeom prst="roundRect">
            <a:avLst/>
          </a:prstGeom>
          <a:solidFill>
            <a:srgbClr val="14203A"/>
          </a:solidFill>
          <a:ln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CUSTOMER #1 EXPOSURE</a:t>
            </a:r>
          </a:p>
          <a:p>
            <a:pPr>
              <a:spcBef>
                <a:spcPts val="1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$29.90M ARR (16.2%)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Global enterprise vendor RFP review expiring Q1 FY26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480560"/>
          </a:xfrm>
          <a:prstGeom prst="roundRect">
            <a:avLst/>
          </a:prstGeom>
          <a:solidFill>
            <a:srgbClr val="14203A"/>
          </a:solidFill>
          <a:ln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92024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0FF"/>
                </a:solidFill>
                <a:latin typeface="Calibri"/>
              </a:defRPr>
            </a:pPr>
            <a:r>
              <a:t>NET REVENUE RETENTION (NRR)</a:t>
            </a:r>
          </a:p>
          <a:p>
            <a:pPr>
              <a:spcBef>
                <a:spcPts val="1400"/>
              </a:spcBef>
              <a:defRPr sz="2400" b="1">
                <a:solidFill>
                  <a:srgbClr val="FFFFFF"/>
                </a:solidFill>
                <a:latin typeface="Calibri"/>
              </a:defRPr>
            </a:pPr>
            <a:r>
              <a:t>101.2%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Contracted from 114.5% YoY (expansion stalled)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SECTION 4: RISK CATALOG &amp; ASSESSMENT • ACROTECH DYNAMICS INC. (ENTERPRISE B2B SAAS &amp; AI AUTOMATION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Critical Risk Factor Authentication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F0FF"/>
                </a:solidFill>
                <a:latin typeface="Consolas"/>
              </a:defRPr>
            </a:pPr>
            <a: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Calibri"/>
              </a:defRPr>
            </a:pPr>
            <a:r>
              <a:t>[RF-01] Liquidity Runway &amp; Debt Covenant Headroom  •  SEVERITY: CRITICAL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Impact: ARR deceleration below $159.1M or burn of $4.8M/qtr triggers covenant breach and insolvency in under 12 months.  |  Mitigation: Institute discretionary capex freeze, accelerate overdue enterprise collections, and begin debt restructuring.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42032"/>
            <a:ext cx="10728655" cy="82296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Calibri"/>
              </a:defRPr>
            </a:pPr>
            <a:r>
              <a:t>[RF-02] Extreme Key Account Concentration  •  SEVERITY: CRITICAL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Impact: Customer #1 ($29.9M ARR / 16.2%) loss breaches $35M senior debt covenant instantaneously.  |  Mitigation: Establish executive sponsor war-room, offer tailored multi-year SLA discounts, and ringfence key renewal.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38144"/>
            <a:ext cx="10728655" cy="82296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11296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[RF-03] Cloud &amp; GPU Infrastructure Single Point of Failure  •  SEVERITY: HIGH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Impact: 92% of production workload locked in us-east-1 with &gt;8h RTO failover and model API price exposure.  |  Mitigation: Architect multi-region active-passive failover and negotiate reserved compute capacity commitments.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34256"/>
            <a:ext cx="10728655" cy="82296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07408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[RF-04] Unpatched High-Severity Telemetry Vulnerability  •  SEVERITY: HIGH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Impact: Privilege escalation vulnerability in telemetry pipeline risks tenant boundary leakage and compliance fines.  |  Mitigation: Emergency patch rollout within 48 hours; mandate third-party penetration testing and SOC2 audit re-check.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230368"/>
            <a:ext cx="10728655" cy="822960"/>
          </a:xfrm>
          <a:prstGeom prst="roundRect">
            <a:avLst/>
          </a:prstGeom>
          <a:solidFill>
            <a:srgbClr val="14203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Calibri"/>
              </a:defRPr>
            </a:pPr>
            <a:r>
              <a:t>[RF-05] Regulatory Exposure under EU AI Act  •  SEVERITY: MEDIUM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Calibri"/>
              </a:defRPr>
            </a:pPr>
            <a:r>
              <a:t>Impact: Autonomous inference pipelines on EU data require Annex III re-classification by mid-2026.  |  Mitigation: Appoint AI Governance officer and implement EU data isolation architecture before Q1 FY26.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Calibri"/>
              </a:defRPr>
            </a:pPr>
            <a:r>
              <a:t>SECTION 5: NEXT STEPS • ACROTECH DYNAMICS INC. (ENTERPRISE B2B SAAS &amp; AI AUTOMATION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Calibri"/>
              </a:defRPr>
            </a:pPr>
            <a:r>
              <a:t>Strategic Recommendations &amp;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F0FF"/>
                </a:solidFill>
                <a:latin typeface="Consolas"/>
              </a:defRPr>
            </a:pPr>
            <a:r>
              <a:t>06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A3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4203A"/>
          </a:solidFill>
          <a:ln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Calibri"/>
              </a:defRPr>
            </a:pPr>
            <a:r>
              <a:t>ACTION ITEM 01: IMMEDIATE DEBT &amp; CAPITAL PROTECTION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Open dialogue with senior lenders to secure covenant waiver / temporary ratio flexibility to 0.250x.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14203A"/>
          </a:solidFill>
          <a:ln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Calibri"/>
              </a:defRPr>
            </a:pPr>
            <a:r>
              <a:t>ACTION ITEM 02: CUSTOMER #1 RENEWAL TASKFORCE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Deploy CEO &amp; CTO led executive sponsorship program before RFP closure in Q1 FY26.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03120"/>
          </a:xfrm>
          <a:prstGeom prst="roundRect">
            <a:avLst/>
          </a:prstGeom>
          <a:solidFill>
            <a:srgbClr val="14203A"/>
          </a:solidFill>
          <a:ln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Calibri"/>
              </a:defRPr>
            </a:pPr>
            <a:r>
              <a:t>ACTION ITEM 03: GPU COST OPTIMIZATION &amp; CLOUD RESILIENCE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Implement prompt token caching, dynamic model fallback, and hot secondary failover outside us-east-1.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03120"/>
          </a:xfrm>
          <a:prstGeom prst="roundRect">
            <a:avLst/>
          </a:prstGeom>
          <a:solidFill>
            <a:srgbClr val="14203A"/>
          </a:solidFill>
          <a:ln>
            <a:solidFill>
              <a:srgbClr val="2A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0624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F0FF"/>
                </a:solidFill>
                <a:latin typeface="Calibri"/>
              </a:defRPr>
            </a:pPr>
            <a:r>
              <a:t>ACTION ITEM 04: SECURITY &amp; REGULATORY RECTIFICATION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  <a:latin typeface="Calibri"/>
              </a:defRPr>
            </a:pPr>
            <a:r>
              <a:t>Patch telemetry privilege escalation CVE and prepare technical documentation for EU AI Act Annex III.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